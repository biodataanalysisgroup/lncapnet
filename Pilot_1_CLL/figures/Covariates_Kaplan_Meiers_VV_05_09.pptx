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66" r:id="rId2"/>
    <p:sldId id="256" r:id="rId3"/>
    <p:sldId id="272" r:id="rId4"/>
    <p:sldId id="268" r:id="rId5"/>
    <p:sldId id="261" r:id="rId6"/>
    <p:sldId id="257" r:id="rId7"/>
    <p:sldId id="258" r:id="rId8"/>
    <p:sldId id="273" r:id="rId9"/>
    <p:sldId id="262" r:id="rId10"/>
    <p:sldId id="259" r:id="rId11"/>
    <p:sldId id="260" r:id="rId12"/>
    <p:sldId id="263" r:id="rId13"/>
    <p:sldId id="264" r:id="rId14"/>
    <p:sldId id="267" r:id="rId15"/>
    <p:sldId id="269" r:id="rId16"/>
    <p:sldId id="270" r:id="rId17"/>
    <p:sldId id="271" r:id="rId18"/>
    <p:sldId id="274" r:id="rId19"/>
    <p:sldId id="275" r:id="rId20"/>
    <p:sldId id="276" r:id="rId21"/>
    <p:sldId id="277" r:id="rId22"/>
    <p:sldId id="278" r:id="rId23"/>
    <p:sldId id="279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50" d="100"/>
          <a:sy n="150" d="100"/>
        </p:scale>
        <p:origin x="-936" y="-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l-G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AF93AD-E018-4597-A494-1A2BC21F3CBF}" type="datetimeFigureOut">
              <a:rPr lang="el-GR" smtClean="0"/>
              <a:t>5/9/2025</a:t>
            </a:fld>
            <a:endParaRPr lang="el-G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l-G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l-G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93049E-A872-4C22-8B89-5470980E99B3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160068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Διαφάνεια τίτλο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62E94DFD-5A1A-5CFB-C47C-E3C97584D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  <a:endParaRPr lang="en-US"/>
          </a:p>
        </p:txBody>
      </p:sp>
      <p:sp>
        <p:nvSpPr>
          <p:cNvPr id="3" name="Υπότιτλος 2">
            <a:extLst>
              <a:ext uri="{FF2B5EF4-FFF2-40B4-BE49-F238E27FC236}">
                <a16:creationId xmlns:a16="http://schemas.microsoft.com/office/drawing/2014/main" id="{70C361CE-8AAE-EA1A-6E9F-AF6F1C3A67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l-GR"/>
              <a:t>Κάντε κλικ για να επεξεργαστείτε τον υπότιτλο του υποδείγματος</a:t>
            </a:r>
            <a:endParaRPr lang="en-US"/>
          </a:p>
        </p:txBody>
      </p:sp>
      <p:sp>
        <p:nvSpPr>
          <p:cNvPr id="4" name="Θέση ημερομηνίας 3">
            <a:extLst>
              <a:ext uri="{FF2B5EF4-FFF2-40B4-BE49-F238E27FC236}">
                <a16:creationId xmlns:a16="http://schemas.microsoft.com/office/drawing/2014/main" id="{B159CEB3-F242-2540-20FF-E248AF4E82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A18F81-2745-4D31-86FD-90D464050DE3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5" name="Θέση υποσέλιδου 4">
            <a:extLst>
              <a:ext uri="{FF2B5EF4-FFF2-40B4-BE49-F238E27FC236}">
                <a16:creationId xmlns:a16="http://schemas.microsoft.com/office/drawing/2014/main" id="{D65731AF-7444-7A39-97C5-1628ACC2B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Θέση αριθμού διαφάνειας 5">
            <a:extLst>
              <a:ext uri="{FF2B5EF4-FFF2-40B4-BE49-F238E27FC236}">
                <a16:creationId xmlns:a16="http://schemas.microsoft.com/office/drawing/2014/main" id="{36D7441C-8F14-3983-1A96-9DDBA1961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E452D-9B77-4F01-834B-477B78B7D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4996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Τίτλος και περιεχό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474E2773-FF63-85B0-D9E5-7CAB4F7E7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68574FD4-9808-F3B5-EEEC-A1DE3A7185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/>
          </a:p>
        </p:txBody>
      </p:sp>
      <p:sp>
        <p:nvSpPr>
          <p:cNvPr id="4" name="Θέση ημερομηνίας 3">
            <a:extLst>
              <a:ext uri="{FF2B5EF4-FFF2-40B4-BE49-F238E27FC236}">
                <a16:creationId xmlns:a16="http://schemas.microsoft.com/office/drawing/2014/main" id="{3A76FBD5-E2D1-9207-BD5D-A2F1950C5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A18F81-2745-4D31-86FD-90D464050DE3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5" name="Θέση υποσέλιδου 4">
            <a:extLst>
              <a:ext uri="{FF2B5EF4-FFF2-40B4-BE49-F238E27FC236}">
                <a16:creationId xmlns:a16="http://schemas.microsoft.com/office/drawing/2014/main" id="{59ADB0D0-0A30-2AAA-624A-9BC87C0B31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Θέση αριθμού διαφάνειας 5">
            <a:extLst>
              <a:ext uri="{FF2B5EF4-FFF2-40B4-BE49-F238E27FC236}">
                <a16:creationId xmlns:a16="http://schemas.microsoft.com/office/drawing/2014/main" id="{C1F855DD-BBE6-E31A-D26E-1CAEB445A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E452D-9B77-4F01-834B-477B78B7D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757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Κεφαλίδα ενότητα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2BF09473-E566-6C76-DAC5-289ADDAA7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  <a:endParaRPr lang="en-US"/>
          </a:p>
        </p:txBody>
      </p:sp>
      <p:sp>
        <p:nvSpPr>
          <p:cNvPr id="3" name="Θέση κειμένου 2">
            <a:extLst>
              <a:ext uri="{FF2B5EF4-FFF2-40B4-BE49-F238E27FC236}">
                <a16:creationId xmlns:a16="http://schemas.microsoft.com/office/drawing/2014/main" id="{38BF771A-D1B6-AF92-1B06-36D13C0662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4" name="Θέση ημερομηνίας 3">
            <a:extLst>
              <a:ext uri="{FF2B5EF4-FFF2-40B4-BE49-F238E27FC236}">
                <a16:creationId xmlns:a16="http://schemas.microsoft.com/office/drawing/2014/main" id="{B066CEAA-BFE1-F588-0F54-54ED2C35EE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A18F81-2745-4D31-86FD-90D464050DE3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5" name="Θέση υποσέλιδου 4">
            <a:extLst>
              <a:ext uri="{FF2B5EF4-FFF2-40B4-BE49-F238E27FC236}">
                <a16:creationId xmlns:a16="http://schemas.microsoft.com/office/drawing/2014/main" id="{E6E1744B-076D-FFFB-D5BE-9A359ACD0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Θέση αριθμού διαφάνειας 5">
            <a:extLst>
              <a:ext uri="{FF2B5EF4-FFF2-40B4-BE49-F238E27FC236}">
                <a16:creationId xmlns:a16="http://schemas.microsoft.com/office/drawing/2014/main" id="{5E9FB34A-2582-43FF-CE29-C40F95320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E452D-9B77-4F01-834B-477B78B7D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448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Δύο περιεχόμεν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9B5B833A-58C6-ACE1-3FDC-D2521417A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A6DACEA6-D737-A135-090B-A821B22E34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/>
          </a:p>
        </p:txBody>
      </p:sp>
      <p:sp>
        <p:nvSpPr>
          <p:cNvPr id="4" name="Θέση περιεχομένου 3">
            <a:extLst>
              <a:ext uri="{FF2B5EF4-FFF2-40B4-BE49-F238E27FC236}">
                <a16:creationId xmlns:a16="http://schemas.microsoft.com/office/drawing/2014/main" id="{C5510937-AB71-F594-2390-74D3232032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/>
          </a:p>
        </p:txBody>
      </p:sp>
      <p:sp>
        <p:nvSpPr>
          <p:cNvPr id="5" name="Θέση ημερομηνίας 4">
            <a:extLst>
              <a:ext uri="{FF2B5EF4-FFF2-40B4-BE49-F238E27FC236}">
                <a16:creationId xmlns:a16="http://schemas.microsoft.com/office/drawing/2014/main" id="{8BC6383C-4234-BE6E-3275-A672D6DD9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A18F81-2745-4D31-86FD-90D464050DE3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6" name="Θέση υποσέλιδου 5">
            <a:extLst>
              <a:ext uri="{FF2B5EF4-FFF2-40B4-BE49-F238E27FC236}">
                <a16:creationId xmlns:a16="http://schemas.microsoft.com/office/drawing/2014/main" id="{4E461A30-E41D-83F2-4B01-19CB01AADF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Θέση αριθμού διαφάνειας 6">
            <a:extLst>
              <a:ext uri="{FF2B5EF4-FFF2-40B4-BE49-F238E27FC236}">
                <a16:creationId xmlns:a16="http://schemas.microsoft.com/office/drawing/2014/main" id="{712B4EFC-8151-1357-7B89-9E69020BF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E452D-9B77-4F01-834B-477B78B7D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7597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Σύγκρισ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A703AB6-FB07-F0AF-BFD7-84EFB36C98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/>
          </a:p>
        </p:txBody>
      </p:sp>
      <p:sp>
        <p:nvSpPr>
          <p:cNvPr id="3" name="Θέση κειμένου 2">
            <a:extLst>
              <a:ext uri="{FF2B5EF4-FFF2-40B4-BE49-F238E27FC236}">
                <a16:creationId xmlns:a16="http://schemas.microsoft.com/office/drawing/2014/main" id="{DA063271-DB78-7AF6-2A35-C5899FECCB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4" name="Θέση περιεχομένου 3">
            <a:extLst>
              <a:ext uri="{FF2B5EF4-FFF2-40B4-BE49-F238E27FC236}">
                <a16:creationId xmlns:a16="http://schemas.microsoft.com/office/drawing/2014/main" id="{1047AFDB-0F7C-F630-C25A-6935EC105F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/>
          </a:p>
        </p:txBody>
      </p:sp>
      <p:sp>
        <p:nvSpPr>
          <p:cNvPr id="5" name="Θέση κειμένου 4">
            <a:extLst>
              <a:ext uri="{FF2B5EF4-FFF2-40B4-BE49-F238E27FC236}">
                <a16:creationId xmlns:a16="http://schemas.microsoft.com/office/drawing/2014/main" id="{64D2B096-87BE-8351-BBDD-BF936210F9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6" name="Θέση περιεχομένου 5">
            <a:extLst>
              <a:ext uri="{FF2B5EF4-FFF2-40B4-BE49-F238E27FC236}">
                <a16:creationId xmlns:a16="http://schemas.microsoft.com/office/drawing/2014/main" id="{F88B1B4F-57F7-3974-09D1-F7E04B38EEF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/>
          </a:p>
        </p:txBody>
      </p:sp>
      <p:sp>
        <p:nvSpPr>
          <p:cNvPr id="7" name="Θέση ημερομηνίας 6">
            <a:extLst>
              <a:ext uri="{FF2B5EF4-FFF2-40B4-BE49-F238E27FC236}">
                <a16:creationId xmlns:a16="http://schemas.microsoft.com/office/drawing/2014/main" id="{B62BD4D9-F1DA-75AC-0967-EB582F8799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A18F81-2745-4D31-86FD-90D464050DE3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8" name="Θέση υποσέλιδου 7">
            <a:extLst>
              <a:ext uri="{FF2B5EF4-FFF2-40B4-BE49-F238E27FC236}">
                <a16:creationId xmlns:a16="http://schemas.microsoft.com/office/drawing/2014/main" id="{00E7170E-E3BE-71C5-99E7-FCA0ED385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Θέση αριθμού διαφάνειας 8">
            <a:extLst>
              <a:ext uri="{FF2B5EF4-FFF2-40B4-BE49-F238E27FC236}">
                <a16:creationId xmlns:a16="http://schemas.microsoft.com/office/drawing/2014/main" id="{05669A8E-A5D2-2AF4-9189-DEBE412A3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E452D-9B77-4F01-834B-477B78B7D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529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Μόνο τίτλο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ADEB0DE3-3A74-D7F2-7CE9-20860B1EB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/>
          </a:p>
        </p:txBody>
      </p:sp>
      <p:sp>
        <p:nvSpPr>
          <p:cNvPr id="3" name="Θέση ημερομηνίας 2">
            <a:extLst>
              <a:ext uri="{FF2B5EF4-FFF2-40B4-BE49-F238E27FC236}">
                <a16:creationId xmlns:a16="http://schemas.microsoft.com/office/drawing/2014/main" id="{C9ED88AA-A943-73DA-DCE1-7ED8FCB154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A18F81-2745-4D31-86FD-90D464050DE3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4" name="Θέση υποσέλιδου 3">
            <a:extLst>
              <a:ext uri="{FF2B5EF4-FFF2-40B4-BE49-F238E27FC236}">
                <a16:creationId xmlns:a16="http://schemas.microsoft.com/office/drawing/2014/main" id="{3CC03501-7240-6E7C-F321-C395190E7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Θέση αριθμού διαφάνειας 4">
            <a:extLst>
              <a:ext uri="{FF2B5EF4-FFF2-40B4-BE49-F238E27FC236}">
                <a16:creationId xmlns:a16="http://schemas.microsoft.com/office/drawing/2014/main" id="{8616A9E3-7ADB-5045-6D04-F3564A8AB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E452D-9B77-4F01-834B-477B78B7D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9693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Κεν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ημερομηνίας 1">
            <a:extLst>
              <a:ext uri="{FF2B5EF4-FFF2-40B4-BE49-F238E27FC236}">
                <a16:creationId xmlns:a16="http://schemas.microsoft.com/office/drawing/2014/main" id="{AE6F2870-3294-4949-F56E-FE54BFEC03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A18F81-2745-4D31-86FD-90D464050DE3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3" name="Θέση υποσέλιδου 2">
            <a:extLst>
              <a:ext uri="{FF2B5EF4-FFF2-40B4-BE49-F238E27FC236}">
                <a16:creationId xmlns:a16="http://schemas.microsoft.com/office/drawing/2014/main" id="{23500C72-3DC1-1736-2301-CBE0A2134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Θέση αριθμού διαφάνειας 3">
            <a:extLst>
              <a:ext uri="{FF2B5EF4-FFF2-40B4-BE49-F238E27FC236}">
                <a16:creationId xmlns:a16="http://schemas.microsoft.com/office/drawing/2014/main" id="{33AC0318-928D-3693-03F2-83CB1F9827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E452D-9B77-4F01-834B-477B78B7D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8759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Περιεχόμενο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AE199315-E95E-3EEC-5728-46144A23B1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  <a:endParaRPr lang="en-US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86F992C7-A436-4585-6089-F4F4FAF958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/>
          </a:p>
        </p:txBody>
      </p:sp>
      <p:sp>
        <p:nvSpPr>
          <p:cNvPr id="4" name="Θέση κειμένου 3">
            <a:extLst>
              <a:ext uri="{FF2B5EF4-FFF2-40B4-BE49-F238E27FC236}">
                <a16:creationId xmlns:a16="http://schemas.microsoft.com/office/drawing/2014/main" id="{44237796-E230-D185-A094-5E5757DC4A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5" name="Θέση ημερομηνίας 4">
            <a:extLst>
              <a:ext uri="{FF2B5EF4-FFF2-40B4-BE49-F238E27FC236}">
                <a16:creationId xmlns:a16="http://schemas.microsoft.com/office/drawing/2014/main" id="{4A46349D-B170-ABAF-3A94-B0DDC67CE7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A18F81-2745-4D31-86FD-90D464050DE3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6" name="Θέση υποσέλιδου 5">
            <a:extLst>
              <a:ext uri="{FF2B5EF4-FFF2-40B4-BE49-F238E27FC236}">
                <a16:creationId xmlns:a16="http://schemas.microsoft.com/office/drawing/2014/main" id="{A98AC0CA-288C-6F8E-CA31-327F9663C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Θέση αριθμού διαφάνειας 6">
            <a:extLst>
              <a:ext uri="{FF2B5EF4-FFF2-40B4-BE49-F238E27FC236}">
                <a16:creationId xmlns:a16="http://schemas.microsoft.com/office/drawing/2014/main" id="{73A57901-7C86-792D-B26F-100CA614F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E452D-9B77-4F01-834B-477B78B7D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609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Εικόνα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DCBBEFA2-E6B2-FACF-82AB-EF702DC9EB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  <a:endParaRPr lang="en-US"/>
          </a:p>
        </p:txBody>
      </p:sp>
      <p:sp>
        <p:nvSpPr>
          <p:cNvPr id="3" name="Θέση εικόνας 2">
            <a:extLst>
              <a:ext uri="{FF2B5EF4-FFF2-40B4-BE49-F238E27FC236}">
                <a16:creationId xmlns:a16="http://schemas.microsoft.com/office/drawing/2014/main" id="{63206A85-E18C-3ECF-045B-FA4E6F62A1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Θέση κειμένου 3">
            <a:extLst>
              <a:ext uri="{FF2B5EF4-FFF2-40B4-BE49-F238E27FC236}">
                <a16:creationId xmlns:a16="http://schemas.microsoft.com/office/drawing/2014/main" id="{82F5E6A0-713F-907D-65E9-A7D7CEE924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5" name="Θέση ημερομηνίας 4">
            <a:extLst>
              <a:ext uri="{FF2B5EF4-FFF2-40B4-BE49-F238E27FC236}">
                <a16:creationId xmlns:a16="http://schemas.microsoft.com/office/drawing/2014/main" id="{FB62EEF0-60EF-2231-1E59-6994187BF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A18F81-2745-4D31-86FD-90D464050DE3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6" name="Θέση υποσέλιδου 5">
            <a:extLst>
              <a:ext uri="{FF2B5EF4-FFF2-40B4-BE49-F238E27FC236}">
                <a16:creationId xmlns:a16="http://schemas.microsoft.com/office/drawing/2014/main" id="{1E34C03D-0EE8-FE25-0954-4CF68F72B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Θέση αριθμού διαφάνειας 6">
            <a:extLst>
              <a:ext uri="{FF2B5EF4-FFF2-40B4-BE49-F238E27FC236}">
                <a16:creationId xmlns:a16="http://schemas.microsoft.com/office/drawing/2014/main" id="{FD65EF95-DF2C-5053-81F6-CF8FC9C12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E452D-9B77-4F01-834B-477B78B7D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1379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Τίτλος και Κατακόρυφο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9646BD7B-5407-AFE1-C2D9-9B8424B6C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/>
          </a:p>
        </p:txBody>
      </p:sp>
      <p:sp>
        <p:nvSpPr>
          <p:cNvPr id="3" name="Θέση κατακόρυφου κειμένου 2">
            <a:extLst>
              <a:ext uri="{FF2B5EF4-FFF2-40B4-BE49-F238E27FC236}">
                <a16:creationId xmlns:a16="http://schemas.microsoft.com/office/drawing/2014/main" id="{D95EDB7A-7314-03BD-873C-CC7F8EECBA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/>
          </a:p>
        </p:txBody>
      </p:sp>
      <p:sp>
        <p:nvSpPr>
          <p:cNvPr id="4" name="Θέση ημερομηνίας 3">
            <a:extLst>
              <a:ext uri="{FF2B5EF4-FFF2-40B4-BE49-F238E27FC236}">
                <a16:creationId xmlns:a16="http://schemas.microsoft.com/office/drawing/2014/main" id="{B900A6D3-5A29-9CA8-1D91-4EE7B0D33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A18F81-2745-4D31-86FD-90D464050DE3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5" name="Θέση υποσέλιδου 4">
            <a:extLst>
              <a:ext uri="{FF2B5EF4-FFF2-40B4-BE49-F238E27FC236}">
                <a16:creationId xmlns:a16="http://schemas.microsoft.com/office/drawing/2014/main" id="{C67C6203-7EAC-35FE-E2BF-B9FF70DB9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Θέση αριθμού διαφάνειας 5">
            <a:extLst>
              <a:ext uri="{FF2B5EF4-FFF2-40B4-BE49-F238E27FC236}">
                <a16:creationId xmlns:a16="http://schemas.microsoft.com/office/drawing/2014/main" id="{6F11CF00-515B-76F4-F5DB-68476054F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E452D-9B77-4F01-834B-477B78B7D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950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Κατακόρυφος τίτλος και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Κατακόρυφος τίτλος 1">
            <a:extLst>
              <a:ext uri="{FF2B5EF4-FFF2-40B4-BE49-F238E27FC236}">
                <a16:creationId xmlns:a16="http://schemas.microsoft.com/office/drawing/2014/main" id="{D4F2A992-15EB-56A5-A598-32CDD5A535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/>
          </a:p>
        </p:txBody>
      </p:sp>
      <p:sp>
        <p:nvSpPr>
          <p:cNvPr id="3" name="Θέση κατακόρυφου κειμένου 2">
            <a:extLst>
              <a:ext uri="{FF2B5EF4-FFF2-40B4-BE49-F238E27FC236}">
                <a16:creationId xmlns:a16="http://schemas.microsoft.com/office/drawing/2014/main" id="{6FB61F54-1AF2-3404-FC1D-3567082FFB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/>
          </a:p>
        </p:txBody>
      </p:sp>
      <p:sp>
        <p:nvSpPr>
          <p:cNvPr id="4" name="Θέση ημερομηνίας 3">
            <a:extLst>
              <a:ext uri="{FF2B5EF4-FFF2-40B4-BE49-F238E27FC236}">
                <a16:creationId xmlns:a16="http://schemas.microsoft.com/office/drawing/2014/main" id="{C24B57E1-1279-D1A1-EC29-113A25585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A18F81-2745-4D31-86FD-90D464050DE3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5" name="Θέση υποσέλιδου 4">
            <a:extLst>
              <a:ext uri="{FF2B5EF4-FFF2-40B4-BE49-F238E27FC236}">
                <a16:creationId xmlns:a16="http://schemas.microsoft.com/office/drawing/2014/main" id="{2A115892-AC38-B4F8-BE4F-228961735C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Θέση αριθμού διαφάνειας 5">
            <a:extLst>
              <a:ext uri="{FF2B5EF4-FFF2-40B4-BE49-F238E27FC236}">
                <a16:creationId xmlns:a16="http://schemas.microsoft.com/office/drawing/2014/main" id="{DE2E80F3-E022-48F5-3DF8-97F465B19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E452D-9B77-4F01-834B-477B78B7D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9069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τίτλου 1">
            <a:extLst>
              <a:ext uri="{FF2B5EF4-FFF2-40B4-BE49-F238E27FC236}">
                <a16:creationId xmlns:a16="http://schemas.microsoft.com/office/drawing/2014/main" id="{39C6E0FA-4A0B-6DD5-2E7D-06380D5C3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/>
          </a:p>
        </p:txBody>
      </p:sp>
      <p:sp>
        <p:nvSpPr>
          <p:cNvPr id="3" name="Θέση κειμένου 2">
            <a:extLst>
              <a:ext uri="{FF2B5EF4-FFF2-40B4-BE49-F238E27FC236}">
                <a16:creationId xmlns:a16="http://schemas.microsoft.com/office/drawing/2014/main" id="{41AC662D-E925-EE0B-DC1B-FC4A9AD099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/>
          </a:p>
        </p:txBody>
      </p:sp>
      <p:sp>
        <p:nvSpPr>
          <p:cNvPr id="4" name="Θέση ημερομηνίας 3">
            <a:extLst>
              <a:ext uri="{FF2B5EF4-FFF2-40B4-BE49-F238E27FC236}">
                <a16:creationId xmlns:a16="http://schemas.microsoft.com/office/drawing/2014/main" id="{95C587C1-B67A-B33F-4E61-A8FF5BCCA9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A18F81-2745-4D31-86FD-90D464050DE3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5" name="Θέση υποσέλιδου 4">
            <a:extLst>
              <a:ext uri="{FF2B5EF4-FFF2-40B4-BE49-F238E27FC236}">
                <a16:creationId xmlns:a16="http://schemas.microsoft.com/office/drawing/2014/main" id="{FB518198-0AF9-4653-DA57-79F7AAC654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Θέση αριθμού διαφάνειας 5">
            <a:extLst>
              <a:ext uri="{FF2B5EF4-FFF2-40B4-BE49-F238E27FC236}">
                <a16:creationId xmlns:a16="http://schemas.microsoft.com/office/drawing/2014/main" id="{90509691-BB16-2885-EA67-536C90EBE2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FE452D-9B77-4F01-834B-477B78B7D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1299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D42FA-12BE-F062-99C0-862904563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01F4F56-EC0F-E610-0446-C6B669CF6B65}"/>
              </a:ext>
            </a:extLst>
          </p:cNvPr>
          <p:cNvSpPr txBox="1"/>
          <p:nvPr/>
        </p:nvSpPr>
        <p:spPr>
          <a:xfrm>
            <a:off x="0" y="3075057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Bubble Plot with Clinical Covariates</a:t>
            </a:r>
          </a:p>
        </p:txBody>
      </p:sp>
    </p:spTree>
    <p:extLst>
      <p:ext uri="{BB962C8B-B14F-4D97-AF65-F5344CB8AC3E}">
        <p14:creationId xmlns:p14="http://schemas.microsoft.com/office/powerpoint/2010/main" val="3075894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F7F139-6157-545E-313B-69D54FED9B86}"/>
              </a:ext>
            </a:extLst>
          </p:cNvPr>
          <p:cNvSpPr txBox="1"/>
          <p:nvPr/>
        </p:nvSpPr>
        <p:spPr>
          <a:xfrm>
            <a:off x="329938" y="452487"/>
            <a:ext cx="61745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Clinical Covariates between BCMO’s metadata</a:t>
            </a:r>
          </a:p>
        </p:txBody>
      </p:sp>
      <p:pic>
        <p:nvPicPr>
          <p:cNvPr id="10" name="Εικόνα 9">
            <a:extLst>
              <a:ext uri="{FF2B5EF4-FFF2-40B4-BE49-F238E27FC236}">
                <a16:creationId xmlns:a16="http://schemas.microsoft.com/office/drawing/2014/main" id="{04824040-D25E-0512-782A-9713FD4FC5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265" y="980141"/>
            <a:ext cx="10823470" cy="5379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286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EDEA1-8985-BF37-799A-4F86BA7B0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8FC45AD-620B-7C8B-4DA1-B103A41C9A3F}"/>
              </a:ext>
            </a:extLst>
          </p:cNvPr>
          <p:cNvSpPr txBox="1"/>
          <p:nvPr/>
        </p:nvSpPr>
        <p:spPr>
          <a:xfrm>
            <a:off x="329938" y="452487"/>
            <a:ext cx="61745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Clinical Covariates between ICGC’s metadata</a:t>
            </a:r>
          </a:p>
        </p:txBody>
      </p:sp>
      <p:pic>
        <p:nvPicPr>
          <p:cNvPr id="3" name="Εικόνα 2">
            <a:extLst>
              <a:ext uri="{FF2B5EF4-FFF2-40B4-BE49-F238E27FC236}">
                <a16:creationId xmlns:a16="http://schemas.microsoft.com/office/drawing/2014/main" id="{BE04C3A0-1834-F6D5-1926-521A5DCF6A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409" y="1028830"/>
            <a:ext cx="10805182" cy="5376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9972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4B7B0F-6C83-F0FD-26E7-64AA92F8A195}"/>
              </a:ext>
            </a:extLst>
          </p:cNvPr>
          <p:cNvSpPr txBox="1"/>
          <p:nvPr/>
        </p:nvSpPr>
        <p:spPr>
          <a:xfrm>
            <a:off x="0" y="3075057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BCMO</a:t>
            </a:r>
          </a:p>
        </p:txBody>
      </p:sp>
    </p:spTree>
    <p:extLst>
      <p:ext uri="{BB962C8B-B14F-4D97-AF65-F5344CB8AC3E}">
        <p14:creationId xmlns:p14="http://schemas.microsoft.com/office/powerpoint/2010/main" val="35513506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2DE1131-6A2B-A92D-4030-6E7E7C645C99}"/>
              </a:ext>
            </a:extLst>
          </p:cNvPr>
          <p:cNvSpPr txBox="1"/>
          <p:nvPr/>
        </p:nvSpPr>
        <p:spPr>
          <a:xfrm>
            <a:off x="0" y="3075057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FOR SURVIVAL STATUS (OS)</a:t>
            </a:r>
          </a:p>
        </p:txBody>
      </p:sp>
    </p:spTree>
    <p:extLst>
      <p:ext uri="{BB962C8B-B14F-4D97-AF65-F5344CB8AC3E}">
        <p14:creationId xmlns:p14="http://schemas.microsoft.com/office/powerpoint/2010/main" val="30283415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1762BF-4247-B58E-82C8-CDC2B51C73CE}"/>
              </a:ext>
            </a:extLst>
          </p:cNvPr>
          <p:cNvSpPr txBox="1"/>
          <p:nvPr/>
        </p:nvSpPr>
        <p:spPr>
          <a:xfrm>
            <a:off x="329937" y="263949"/>
            <a:ext cx="92665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Kaplan Meier’s for </a:t>
            </a:r>
            <a:r>
              <a:rPr lang="en-US" sz="2400" b="1" dirty="0" err="1"/>
              <a:t>lncRNAs</a:t>
            </a:r>
            <a:r>
              <a:rPr lang="en-US" sz="2400" b="1" dirty="0"/>
              <a:t> plots for </a:t>
            </a:r>
            <a:r>
              <a:rPr lang="en-US" sz="3200" b="1" u="sng" dirty="0"/>
              <a:t>OS</a:t>
            </a:r>
            <a:r>
              <a:rPr lang="en-US" sz="2400" b="1" dirty="0"/>
              <a:t> in BCMO [Expression values]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D7E641F-75C7-C2C1-C788-226F5E74F165}"/>
              </a:ext>
            </a:extLst>
          </p:cNvPr>
          <p:cNvSpPr txBox="1"/>
          <p:nvPr/>
        </p:nvSpPr>
        <p:spPr>
          <a:xfrm>
            <a:off x="197963" y="851131"/>
            <a:ext cx="822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5FFA60-C315-E2A0-0CC9-DE9BB45B6C61}"/>
              </a:ext>
            </a:extLst>
          </p:cNvPr>
          <p:cNvSpPr txBox="1"/>
          <p:nvPr/>
        </p:nvSpPr>
        <p:spPr>
          <a:xfrm>
            <a:off x="6096000" y="851131"/>
            <a:ext cx="822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827D19B-FB6C-D25D-67E9-3CCF8BC2EEA5}"/>
              </a:ext>
            </a:extLst>
          </p:cNvPr>
          <p:cNvSpPr txBox="1"/>
          <p:nvPr/>
        </p:nvSpPr>
        <p:spPr>
          <a:xfrm>
            <a:off x="197963" y="848724"/>
            <a:ext cx="822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210F080-818D-1477-9A1F-EF8438B29164}"/>
              </a:ext>
            </a:extLst>
          </p:cNvPr>
          <p:cNvSpPr txBox="1"/>
          <p:nvPr/>
        </p:nvSpPr>
        <p:spPr>
          <a:xfrm>
            <a:off x="6096000" y="848724"/>
            <a:ext cx="822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FEBD7A0D-4A36-5146-6C5D-B5B8CD045F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0621" y="832031"/>
            <a:ext cx="3473862" cy="602596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28A8C8C5-2725-7ED5-0575-589772A65D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6996" y="848723"/>
            <a:ext cx="3473862" cy="6025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09160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A264912-B56A-8389-C9A6-05419E11E6D2}"/>
              </a:ext>
            </a:extLst>
          </p:cNvPr>
          <p:cNvSpPr txBox="1"/>
          <p:nvPr/>
        </p:nvSpPr>
        <p:spPr>
          <a:xfrm>
            <a:off x="329937" y="263949"/>
            <a:ext cx="92665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Kaplan Meier’s for </a:t>
            </a:r>
            <a:r>
              <a:rPr lang="en-US" sz="2400" b="1" dirty="0" err="1"/>
              <a:t>lncRNAs</a:t>
            </a:r>
            <a:r>
              <a:rPr lang="en-US" sz="2400" b="1" dirty="0"/>
              <a:t> plots for </a:t>
            </a:r>
            <a:r>
              <a:rPr lang="en-US" sz="3200" b="1" u="sng" dirty="0"/>
              <a:t>OS</a:t>
            </a:r>
            <a:r>
              <a:rPr lang="en-US" sz="2400" b="1" dirty="0"/>
              <a:t> in BCMO [Activity values]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A832B0-349B-3F79-B116-26297B6C6811}"/>
              </a:ext>
            </a:extLst>
          </p:cNvPr>
          <p:cNvSpPr txBox="1"/>
          <p:nvPr/>
        </p:nvSpPr>
        <p:spPr>
          <a:xfrm>
            <a:off x="197963" y="848724"/>
            <a:ext cx="822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307185-0595-074C-FF3B-9255CED3D5D2}"/>
              </a:ext>
            </a:extLst>
          </p:cNvPr>
          <p:cNvSpPr txBox="1"/>
          <p:nvPr/>
        </p:nvSpPr>
        <p:spPr>
          <a:xfrm>
            <a:off x="6096000" y="848724"/>
            <a:ext cx="822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1D2E935-7161-ED01-9C4E-1BEF221973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4669" y="848724"/>
            <a:ext cx="3393179" cy="588601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0F279E0-97A0-83F9-E1DD-36D9313535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632" y="971989"/>
            <a:ext cx="3393179" cy="5886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07685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28DD6-8528-E0C2-9301-1F126403D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93B735-78E3-2C36-3774-342D2F48D972}"/>
              </a:ext>
            </a:extLst>
          </p:cNvPr>
          <p:cNvSpPr txBox="1"/>
          <p:nvPr/>
        </p:nvSpPr>
        <p:spPr>
          <a:xfrm>
            <a:off x="329936" y="263949"/>
            <a:ext cx="115572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Kaplan Meier’s for combining 5 sign. </a:t>
            </a:r>
            <a:r>
              <a:rPr lang="en-US" sz="2400" b="1" dirty="0" err="1"/>
              <a:t>lncRNAs</a:t>
            </a:r>
            <a:r>
              <a:rPr lang="en-US" sz="2400" b="1" dirty="0"/>
              <a:t> plots for </a:t>
            </a:r>
            <a:r>
              <a:rPr lang="en-US" sz="3200" b="1" u="sng" dirty="0"/>
              <a:t>OS</a:t>
            </a:r>
            <a:r>
              <a:rPr lang="en-US" sz="2400" b="1" dirty="0"/>
              <a:t> in BCMO [Activity values]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3032A3-97B3-AE9E-179D-FAF0F52F9E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1024" y="1761563"/>
            <a:ext cx="5527542" cy="412583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21C4898-CD8A-FA31-0640-DC9A9E913B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697" y="1649505"/>
            <a:ext cx="5827801" cy="4349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922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E57D6-DE90-BF4B-2B46-489727458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A4A261B-4337-81D9-75D7-96D1096C729D}"/>
              </a:ext>
            </a:extLst>
          </p:cNvPr>
          <p:cNvSpPr txBox="1"/>
          <p:nvPr/>
        </p:nvSpPr>
        <p:spPr>
          <a:xfrm>
            <a:off x="0" y="3075057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FOR TFT</a:t>
            </a:r>
          </a:p>
        </p:txBody>
      </p:sp>
    </p:spTree>
    <p:extLst>
      <p:ext uri="{BB962C8B-B14F-4D97-AF65-F5344CB8AC3E}">
        <p14:creationId xmlns:p14="http://schemas.microsoft.com/office/powerpoint/2010/main" val="22015564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6CAEC-A335-0807-DEEC-8F820ACE7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1979832-F9D4-BD82-02EF-A8D39FF3DFED}"/>
              </a:ext>
            </a:extLst>
          </p:cNvPr>
          <p:cNvSpPr txBox="1"/>
          <p:nvPr/>
        </p:nvSpPr>
        <p:spPr>
          <a:xfrm>
            <a:off x="329937" y="263949"/>
            <a:ext cx="92665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Kaplan Meier’s for </a:t>
            </a:r>
            <a:r>
              <a:rPr lang="en-US" sz="2400" b="1" dirty="0" err="1"/>
              <a:t>lncRNAs</a:t>
            </a:r>
            <a:r>
              <a:rPr lang="en-US" sz="2400" b="1" dirty="0"/>
              <a:t> plots for </a:t>
            </a:r>
            <a:r>
              <a:rPr lang="en-US" sz="3200" b="1" u="sng" dirty="0"/>
              <a:t>TFT</a:t>
            </a:r>
            <a:r>
              <a:rPr lang="en-US" sz="2400" b="1" dirty="0"/>
              <a:t> in BCMO [Expression values]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69A640D-C389-8D89-875F-2172E7F36BFB}"/>
              </a:ext>
            </a:extLst>
          </p:cNvPr>
          <p:cNvSpPr txBox="1"/>
          <p:nvPr/>
        </p:nvSpPr>
        <p:spPr>
          <a:xfrm>
            <a:off x="197963" y="851131"/>
            <a:ext cx="822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631847-467A-7B45-C52B-77AE1E5124A4}"/>
              </a:ext>
            </a:extLst>
          </p:cNvPr>
          <p:cNvSpPr txBox="1"/>
          <p:nvPr/>
        </p:nvSpPr>
        <p:spPr>
          <a:xfrm>
            <a:off x="6096000" y="851131"/>
            <a:ext cx="822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A7A7B2E8-51D2-1537-591B-EC24DCE3B7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2723" y="848724"/>
            <a:ext cx="3464239" cy="600927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1E5002A-C38D-C8B3-9263-0C0305DDD3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067" y="848724"/>
            <a:ext cx="3464239" cy="6009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6943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7DDDAC-E3BB-99D3-F482-234332C24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1E840C-D317-102D-CB95-5D3F0553849D}"/>
              </a:ext>
            </a:extLst>
          </p:cNvPr>
          <p:cNvSpPr txBox="1"/>
          <p:nvPr/>
        </p:nvSpPr>
        <p:spPr>
          <a:xfrm>
            <a:off x="329937" y="263949"/>
            <a:ext cx="92665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Kaplan Meier’s for </a:t>
            </a:r>
            <a:r>
              <a:rPr lang="en-US" sz="2400" b="1" dirty="0" err="1"/>
              <a:t>lncRNAs</a:t>
            </a:r>
            <a:r>
              <a:rPr lang="en-US" sz="2400" b="1" dirty="0"/>
              <a:t> plots for </a:t>
            </a:r>
            <a:r>
              <a:rPr lang="en-US" sz="3200" b="1" u="sng" dirty="0"/>
              <a:t>TFT</a:t>
            </a:r>
            <a:r>
              <a:rPr lang="en-US" sz="2400" b="1" dirty="0"/>
              <a:t> in BCMO [Activity values]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E091FD-2E26-5C79-3D7D-1630DBA5CCB9}"/>
              </a:ext>
            </a:extLst>
          </p:cNvPr>
          <p:cNvSpPr txBox="1"/>
          <p:nvPr/>
        </p:nvSpPr>
        <p:spPr>
          <a:xfrm>
            <a:off x="197963" y="851131"/>
            <a:ext cx="822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112ED6-CD09-9987-E141-10C7E7D724A2}"/>
              </a:ext>
            </a:extLst>
          </p:cNvPr>
          <p:cNvSpPr txBox="1"/>
          <p:nvPr/>
        </p:nvSpPr>
        <p:spPr>
          <a:xfrm>
            <a:off x="6096000" y="851131"/>
            <a:ext cx="822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38E2A70-C424-C378-7A8B-29209B0833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0393" y="848724"/>
            <a:ext cx="3464239" cy="600927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96FF744-E0C4-853B-8E53-220F10FBE2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7503" y="848724"/>
            <a:ext cx="3464964" cy="6009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80162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73C7F-1CC3-0E24-6C6D-206847B67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71CEA3-1925-7405-2771-63FF11DED5CD}"/>
              </a:ext>
            </a:extLst>
          </p:cNvPr>
          <p:cNvSpPr txBox="1"/>
          <p:nvPr/>
        </p:nvSpPr>
        <p:spPr>
          <a:xfrm>
            <a:off x="0" y="3075057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FOR TTT</a:t>
            </a:r>
          </a:p>
        </p:txBody>
      </p:sp>
    </p:spTree>
    <p:extLst>
      <p:ext uri="{BB962C8B-B14F-4D97-AF65-F5344CB8AC3E}">
        <p14:creationId xmlns:p14="http://schemas.microsoft.com/office/powerpoint/2010/main" val="24718438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AF959-E6C1-C203-F8EE-B82158C8A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E0A7D7-4A89-362C-150A-EDBA3CAF864E}"/>
              </a:ext>
            </a:extLst>
          </p:cNvPr>
          <p:cNvSpPr txBox="1"/>
          <p:nvPr/>
        </p:nvSpPr>
        <p:spPr>
          <a:xfrm>
            <a:off x="329937" y="263949"/>
            <a:ext cx="92665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Kaplan Meier’s for </a:t>
            </a:r>
            <a:r>
              <a:rPr lang="en-US" sz="2400" b="1" dirty="0" err="1"/>
              <a:t>lncRNAs</a:t>
            </a:r>
            <a:r>
              <a:rPr lang="en-US" sz="2400" b="1" dirty="0"/>
              <a:t> plots for </a:t>
            </a:r>
            <a:r>
              <a:rPr lang="en-US" sz="3200" b="1" u="sng" dirty="0"/>
              <a:t>TTT</a:t>
            </a:r>
            <a:r>
              <a:rPr lang="en-US" sz="2400" b="1" dirty="0"/>
              <a:t> in BCMO [Expression values]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A7F2AAB-D5C6-FDB8-1781-698AC516CC6B}"/>
              </a:ext>
            </a:extLst>
          </p:cNvPr>
          <p:cNvSpPr txBox="1"/>
          <p:nvPr/>
        </p:nvSpPr>
        <p:spPr>
          <a:xfrm>
            <a:off x="197963" y="851131"/>
            <a:ext cx="822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FAC11E6-0CA2-ED57-045F-382F785563F3}"/>
              </a:ext>
            </a:extLst>
          </p:cNvPr>
          <p:cNvSpPr txBox="1"/>
          <p:nvPr/>
        </p:nvSpPr>
        <p:spPr>
          <a:xfrm>
            <a:off x="6096000" y="851131"/>
            <a:ext cx="822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B90314-B2F2-EFAC-CFBE-AAEE2D9EC4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8136" y="848724"/>
            <a:ext cx="3464239" cy="60092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89EEB48-5C6A-D622-C54D-0E502C34B7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099" y="848724"/>
            <a:ext cx="3464239" cy="6009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78309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448A4-35F9-C6D7-6512-12396E74D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23962B-277B-90BC-D9AD-E3E1B7EF230A}"/>
              </a:ext>
            </a:extLst>
          </p:cNvPr>
          <p:cNvSpPr txBox="1"/>
          <p:nvPr/>
        </p:nvSpPr>
        <p:spPr>
          <a:xfrm>
            <a:off x="329937" y="263949"/>
            <a:ext cx="92665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Kaplan Meier’s for </a:t>
            </a:r>
            <a:r>
              <a:rPr lang="en-US" sz="2400" b="1" dirty="0" err="1"/>
              <a:t>lncRNAs</a:t>
            </a:r>
            <a:r>
              <a:rPr lang="en-US" sz="2400" b="1" dirty="0"/>
              <a:t> plots for </a:t>
            </a:r>
            <a:r>
              <a:rPr lang="en-US" sz="3200" b="1" u="sng" dirty="0"/>
              <a:t>TTT</a:t>
            </a:r>
            <a:r>
              <a:rPr lang="en-US" sz="2400" b="1" dirty="0"/>
              <a:t> in BCMO [Activity values]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951ED08-5B76-ECA6-C43E-374178277D09}"/>
              </a:ext>
            </a:extLst>
          </p:cNvPr>
          <p:cNvSpPr txBox="1"/>
          <p:nvPr/>
        </p:nvSpPr>
        <p:spPr>
          <a:xfrm>
            <a:off x="197963" y="851131"/>
            <a:ext cx="822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F5D469-C234-FB0B-5EF9-368F230D2994}"/>
              </a:ext>
            </a:extLst>
          </p:cNvPr>
          <p:cNvSpPr txBox="1"/>
          <p:nvPr/>
        </p:nvSpPr>
        <p:spPr>
          <a:xfrm>
            <a:off x="6096000" y="851131"/>
            <a:ext cx="822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B269920-DEBD-F973-A06B-E50D6C1101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099" y="848724"/>
            <a:ext cx="3455623" cy="599433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ECD4F91-6534-4B11-4374-AA21C62B70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1409" y="848723"/>
            <a:ext cx="3456347" cy="5994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87698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9912D-C862-5594-3849-C8FCDB656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056CC2-59ED-A085-04DA-692D39C5F59A}"/>
              </a:ext>
            </a:extLst>
          </p:cNvPr>
          <p:cNvSpPr txBox="1"/>
          <p:nvPr/>
        </p:nvSpPr>
        <p:spPr>
          <a:xfrm>
            <a:off x="0" y="3075057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ICGC Survival Status (OS)</a:t>
            </a:r>
          </a:p>
        </p:txBody>
      </p:sp>
    </p:spTree>
    <p:extLst>
      <p:ext uri="{BB962C8B-B14F-4D97-AF65-F5344CB8AC3E}">
        <p14:creationId xmlns:p14="http://schemas.microsoft.com/office/powerpoint/2010/main" val="31441778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8EE5B-51C3-819B-17E3-75F5D6E36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097EEE7-107A-2AF3-BE62-D41A1D2B3C12}"/>
              </a:ext>
            </a:extLst>
          </p:cNvPr>
          <p:cNvSpPr txBox="1"/>
          <p:nvPr/>
        </p:nvSpPr>
        <p:spPr>
          <a:xfrm>
            <a:off x="329937" y="263949"/>
            <a:ext cx="92665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Kaplan Meier’s for </a:t>
            </a:r>
            <a:r>
              <a:rPr lang="en-US" sz="2400" b="1" dirty="0" err="1"/>
              <a:t>lncRNAs</a:t>
            </a:r>
            <a:r>
              <a:rPr lang="en-US" sz="2400" b="1" dirty="0"/>
              <a:t> plots for </a:t>
            </a:r>
            <a:r>
              <a:rPr lang="en-US" sz="3200" b="1" u="sng" dirty="0"/>
              <a:t>OS</a:t>
            </a:r>
            <a:r>
              <a:rPr lang="en-US" sz="2400" b="1" dirty="0"/>
              <a:t> in ICGC [Expression values]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1BB458-30E1-4A9C-A659-6EECE245E3E2}"/>
              </a:ext>
            </a:extLst>
          </p:cNvPr>
          <p:cNvSpPr txBox="1"/>
          <p:nvPr/>
        </p:nvSpPr>
        <p:spPr>
          <a:xfrm>
            <a:off x="197963" y="851131"/>
            <a:ext cx="822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896FAAC-E377-F04E-3842-171F3FBCD6DE}"/>
              </a:ext>
            </a:extLst>
          </p:cNvPr>
          <p:cNvSpPr txBox="1"/>
          <p:nvPr/>
        </p:nvSpPr>
        <p:spPr>
          <a:xfrm>
            <a:off x="6096000" y="851131"/>
            <a:ext cx="822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E492CD7-1326-EFB3-0660-3D4A95B6FF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5143" y="845730"/>
            <a:ext cx="3463480" cy="601226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C3C1857-B5CF-B52B-C524-7DABB24853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099" y="845731"/>
            <a:ext cx="3463480" cy="6012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592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2F09D-2749-8AC4-AA3D-291BD36F9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CEBD8B8-E7D3-22AE-976C-1D7B3E4558AD}"/>
              </a:ext>
            </a:extLst>
          </p:cNvPr>
          <p:cNvSpPr txBox="1"/>
          <p:nvPr/>
        </p:nvSpPr>
        <p:spPr>
          <a:xfrm>
            <a:off x="329937" y="263949"/>
            <a:ext cx="92665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Kaplan Meier’s for </a:t>
            </a:r>
            <a:r>
              <a:rPr lang="en-US" sz="2400" b="1" dirty="0" err="1"/>
              <a:t>lncRNAs</a:t>
            </a:r>
            <a:r>
              <a:rPr lang="en-US" sz="2400" b="1" dirty="0"/>
              <a:t> plots for </a:t>
            </a:r>
            <a:r>
              <a:rPr lang="en-US" sz="3200" b="1" u="sng" dirty="0"/>
              <a:t>OS</a:t>
            </a:r>
            <a:r>
              <a:rPr lang="en-US" sz="2400" b="1" dirty="0"/>
              <a:t> in ICGC [Activity values]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B56F12-35FE-BB8B-CBB1-AFE8B726FD25}"/>
              </a:ext>
            </a:extLst>
          </p:cNvPr>
          <p:cNvSpPr txBox="1"/>
          <p:nvPr/>
        </p:nvSpPr>
        <p:spPr>
          <a:xfrm>
            <a:off x="197963" y="851131"/>
            <a:ext cx="822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EC864C-F774-89F3-B06E-489D53B673D8}"/>
              </a:ext>
            </a:extLst>
          </p:cNvPr>
          <p:cNvSpPr txBox="1"/>
          <p:nvPr/>
        </p:nvSpPr>
        <p:spPr>
          <a:xfrm>
            <a:off x="6096000" y="851131"/>
            <a:ext cx="822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1FF7B2C-AC01-3204-F8DE-A1C95B6D7A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143" y="848724"/>
            <a:ext cx="3461756" cy="600927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6BD029D-99D8-D81E-B8B0-D732B77BE9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2073" y="848724"/>
            <a:ext cx="3461756" cy="6009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3715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B61AF-59FB-0BBF-A462-A611FDA58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5CC9FA-8226-8272-EE5C-C03B0718CB35}"/>
              </a:ext>
            </a:extLst>
          </p:cNvPr>
          <p:cNvSpPr txBox="1"/>
          <p:nvPr/>
        </p:nvSpPr>
        <p:spPr>
          <a:xfrm>
            <a:off x="0" y="2767281"/>
            <a:ext cx="12192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BCMO</a:t>
            </a:r>
          </a:p>
          <a:p>
            <a:pPr algn="ctr"/>
            <a:r>
              <a:rPr lang="en-US" sz="4000" b="1" dirty="0"/>
              <a:t>Kaplan Meier’s by splitting into U/M CLL</a:t>
            </a:r>
          </a:p>
        </p:txBody>
      </p:sp>
    </p:spTree>
    <p:extLst>
      <p:ext uri="{BB962C8B-B14F-4D97-AF65-F5344CB8AC3E}">
        <p14:creationId xmlns:p14="http://schemas.microsoft.com/office/powerpoint/2010/main" val="27565474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029055D-6084-6CCB-A650-0C5B54D198FE}"/>
              </a:ext>
            </a:extLst>
          </p:cNvPr>
          <p:cNvSpPr txBox="1"/>
          <p:nvPr/>
        </p:nvSpPr>
        <p:spPr>
          <a:xfrm>
            <a:off x="329936" y="263949"/>
            <a:ext cx="116379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Kaplan Meier’s plots for </a:t>
            </a:r>
            <a:r>
              <a:rPr lang="en-US" sz="2400" b="1" dirty="0" err="1"/>
              <a:t>lncRNAs</a:t>
            </a:r>
            <a:r>
              <a:rPr lang="en-US" sz="2400" b="1" dirty="0"/>
              <a:t> for </a:t>
            </a:r>
            <a:r>
              <a:rPr lang="en-US" sz="3200" b="1" u="sng" dirty="0"/>
              <a:t>OS</a:t>
            </a:r>
            <a:r>
              <a:rPr lang="en-US" sz="2400" b="1" dirty="0"/>
              <a:t> in BCMO with Activity values [U/M comparison]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5FCB0C-8759-992A-8F30-ACD8BA62DC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2471" y="848724"/>
            <a:ext cx="3539691" cy="600927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6233DBD-69B0-D1B4-41A4-AD92FA36BB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1833" y="848724"/>
            <a:ext cx="3464239" cy="60092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5C5874B-F8BB-9507-7130-8CA80D77D3B4}"/>
              </a:ext>
            </a:extLst>
          </p:cNvPr>
          <p:cNvSpPr txBox="1"/>
          <p:nvPr/>
        </p:nvSpPr>
        <p:spPr>
          <a:xfrm>
            <a:off x="242047" y="1640542"/>
            <a:ext cx="19497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Quartile samples</a:t>
            </a:r>
            <a:r>
              <a:rPr lang="en-US" b="1" dirty="0"/>
              <a:t>:</a:t>
            </a:r>
          </a:p>
          <a:p>
            <a:r>
              <a:rPr lang="en-US" dirty="0"/>
              <a:t>25% [high-low]</a:t>
            </a:r>
          </a:p>
          <a:p>
            <a:r>
              <a:rPr lang="en-US" dirty="0"/>
              <a:t>Activity values</a:t>
            </a:r>
            <a:endParaRPr lang="el-G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427A1F-2690-3372-D053-FEC7E3FA1841}"/>
              </a:ext>
            </a:extLst>
          </p:cNvPr>
          <p:cNvSpPr txBox="1"/>
          <p:nvPr/>
        </p:nvSpPr>
        <p:spPr>
          <a:xfrm>
            <a:off x="1892293" y="1023648"/>
            <a:ext cx="11826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 [</a:t>
            </a:r>
            <a:r>
              <a:rPr lang="en-US" b="1" dirty="0" err="1"/>
              <a:t>uCLL</a:t>
            </a:r>
            <a:r>
              <a:rPr lang="en-US" b="1" dirty="0"/>
              <a:t>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C4B024-95A4-9D8E-AD9B-C15499E71A59}"/>
              </a:ext>
            </a:extLst>
          </p:cNvPr>
          <p:cNvSpPr txBox="1"/>
          <p:nvPr/>
        </p:nvSpPr>
        <p:spPr>
          <a:xfrm>
            <a:off x="6230334" y="1023648"/>
            <a:ext cx="10400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 [</a:t>
            </a:r>
            <a:r>
              <a:rPr lang="en-US" b="1" dirty="0" err="1"/>
              <a:t>mCLL</a:t>
            </a:r>
            <a:r>
              <a:rPr lang="en-US" b="1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14032053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FD2E84-E824-AC17-81E7-E6433C153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CD0D3F-0FC2-DD28-F5AB-96ECEE060EA2}"/>
              </a:ext>
            </a:extLst>
          </p:cNvPr>
          <p:cNvSpPr txBox="1"/>
          <p:nvPr/>
        </p:nvSpPr>
        <p:spPr>
          <a:xfrm>
            <a:off x="329936" y="263949"/>
            <a:ext cx="116379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Kaplan Meier’s plots for </a:t>
            </a:r>
            <a:r>
              <a:rPr lang="en-US" sz="2400" b="1" dirty="0" err="1"/>
              <a:t>lncRNAs</a:t>
            </a:r>
            <a:r>
              <a:rPr lang="en-US" sz="2400" b="1" dirty="0"/>
              <a:t> for </a:t>
            </a:r>
            <a:r>
              <a:rPr lang="en-US" sz="3200" b="1" u="sng" dirty="0"/>
              <a:t>TFT</a:t>
            </a:r>
            <a:r>
              <a:rPr lang="en-US" sz="2400" b="1" dirty="0"/>
              <a:t> in BCMO with Activity values [U/M comparison]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A78381-06EB-2B08-FD66-2C64EA74A8AC}"/>
              </a:ext>
            </a:extLst>
          </p:cNvPr>
          <p:cNvSpPr txBox="1"/>
          <p:nvPr/>
        </p:nvSpPr>
        <p:spPr>
          <a:xfrm>
            <a:off x="242047" y="1640542"/>
            <a:ext cx="19497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Quartile samples</a:t>
            </a:r>
            <a:r>
              <a:rPr lang="en-US" b="1" dirty="0"/>
              <a:t>:</a:t>
            </a:r>
          </a:p>
          <a:p>
            <a:r>
              <a:rPr lang="en-US" dirty="0"/>
              <a:t>25% [high-low]</a:t>
            </a:r>
          </a:p>
          <a:p>
            <a:r>
              <a:rPr lang="en-US" dirty="0"/>
              <a:t>Activity values</a:t>
            </a:r>
            <a:endParaRPr lang="el-G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DF7C37-E798-8ABB-602D-B10FE4C3D6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5698" y="848724"/>
            <a:ext cx="3539691" cy="60092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C033D87-7DB6-DF76-45A5-AC04A910F4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8243" y="848724"/>
            <a:ext cx="3464964" cy="600927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EF5033C-B76D-F050-0DC9-AAA060B49E3D}"/>
              </a:ext>
            </a:extLst>
          </p:cNvPr>
          <p:cNvSpPr txBox="1"/>
          <p:nvPr/>
        </p:nvSpPr>
        <p:spPr>
          <a:xfrm>
            <a:off x="2134341" y="1023648"/>
            <a:ext cx="11826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 [</a:t>
            </a:r>
            <a:r>
              <a:rPr lang="en-US" b="1" dirty="0" err="1"/>
              <a:t>uCLL</a:t>
            </a:r>
            <a:r>
              <a:rPr lang="en-US" b="1" dirty="0"/>
              <a:t>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2C5949-AF99-8CD6-21E9-6D094F8E42D9}"/>
              </a:ext>
            </a:extLst>
          </p:cNvPr>
          <p:cNvSpPr txBox="1"/>
          <p:nvPr/>
        </p:nvSpPr>
        <p:spPr>
          <a:xfrm>
            <a:off x="6472382" y="1023648"/>
            <a:ext cx="10400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 [</a:t>
            </a:r>
            <a:r>
              <a:rPr lang="en-US" b="1" dirty="0" err="1"/>
              <a:t>mCLL</a:t>
            </a:r>
            <a:r>
              <a:rPr lang="en-US" b="1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8069820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46C2B-99E2-FB1F-B89D-69F1EF433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53AF8A29-1B16-9DCC-62A9-A780730901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1729" y="848724"/>
            <a:ext cx="3507952" cy="595539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9C509D1-3AF1-3844-A5F8-2B9AB40C33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251" y="848724"/>
            <a:ext cx="3433896" cy="595539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7F0D20-4238-FACC-6EF0-9C25337E3420}"/>
              </a:ext>
            </a:extLst>
          </p:cNvPr>
          <p:cNvSpPr txBox="1"/>
          <p:nvPr/>
        </p:nvSpPr>
        <p:spPr>
          <a:xfrm>
            <a:off x="329936" y="263949"/>
            <a:ext cx="116379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Kaplan Meier’s plots for </a:t>
            </a:r>
            <a:r>
              <a:rPr lang="en-US" sz="2400" b="1" dirty="0" err="1"/>
              <a:t>lncRNAs</a:t>
            </a:r>
            <a:r>
              <a:rPr lang="en-US" sz="2400" b="1" dirty="0"/>
              <a:t> </a:t>
            </a:r>
            <a:r>
              <a:rPr lang="en-US" sz="2400" b="1"/>
              <a:t>for </a:t>
            </a:r>
            <a:r>
              <a:rPr lang="en-US" sz="3200" b="1" u="sng"/>
              <a:t>TTT</a:t>
            </a:r>
            <a:r>
              <a:rPr lang="en-US" sz="2400" b="1"/>
              <a:t> </a:t>
            </a:r>
            <a:r>
              <a:rPr lang="en-US" sz="2400" b="1" dirty="0"/>
              <a:t>in BCMO with Activity values [U/M comparison]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27BDBC-F733-137E-BDA4-BEBA03845EF1}"/>
              </a:ext>
            </a:extLst>
          </p:cNvPr>
          <p:cNvSpPr txBox="1"/>
          <p:nvPr/>
        </p:nvSpPr>
        <p:spPr>
          <a:xfrm>
            <a:off x="242047" y="1640542"/>
            <a:ext cx="19497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Quartile samples</a:t>
            </a:r>
            <a:r>
              <a:rPr lang="en-US" b="1" dirty="0"/>
              <a:t>:</a:t>
            </a:r>
          </a:p>
          <a:p>
            <a:r>
              <a:rPr lang="en-US" dirty="0"/>
              <a:t>25% [high-low]</a:t>
            </a:r>
          </a:p>
          <a:p>
            <a:r>
              <a:rPr lang="en-US" dirty="0"/>
              <a:t>Activity values</a:t>
            </a:r>
            <a:endParaRPr lang="el-GR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4361A6-D27F-5A4C-D263-97376F5F1448}"/>
              </a:ext>
            </a:extLst>
          </p:cNvPr>
          <p:cNvSpPr txBox="1"/>
          <p:nvPr/>
        </p:nvSpPr>
        <p:spPr>
          <a:xfrm>
            <a:off x="2134341" y="1023648"/>
            <a:ext cx="11826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 [</a:t>
            </a:r>
            <a:r>
              <a:rPr lang="en-US" b="1" dirty="0" err="1"/>
              <a:t>uCLL</a:t>
            </a:r>
            <a:r>
              <a:rPr lang="en-US" b="1" dirty="0"/>
              <a:t>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212679-B91B-0B18-57DF-8F5F66933219}"/>
              </a:ext>
            </a:extLst>
          </p:cNvPr>
          <p:cNvSpPr txBox="1"/>
          <p:nvPr/>
        </p:nvSpPr>
        <p:spPr>
          <a:xfrm>
            <a:off x="6472382" y="1023648"/>
            <a:ext cx="10400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 [</a:t>
            </a:r>
            <a:r>
              <a:rPr lang="en-US" b="1" dirty="0" err="1"/>
              <a:t>mCLL</a:t>
            </a:r>
            <a:r>
              <a:rPr lang="en-US" b="1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9153045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04404-79E6-8088-4277-F6886FB8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C8F2927-820B-5943-BA77-666EC3AF1552}"/>
              </a:ext>
            </a:extLst>
          </p:cNvPr>
          <p:cNvSpPr txBox="1"/>
          <p:nvPr/>
        </p:nvSpPr>
        <p:spPr>
          <a:xfrm>
            <a:off x="0" y="2767281"/>
            <a:ext cx="12192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ICGC</a:t>
            </a:r>
          </a:p>
          <a:p>
            <a:pPr algn="ctr"/>
            <a:r>
              <a:rPr lang="en-US" sz="4000" b="1" dirty="0"/>
              <a:t>Kaplan Meier’s by splitting into U/M CLL</a:t>
            </a:r>
          </a:p>
        </p:txBody>
      </p:sp>
    </p:spTree>
    <p:extLst>
      <p:ext uri="{BB962C8B-B14F-4D97-AF65-F5344CB8AC3E}">
        <p14:creationId xmlns:p14="http://schemas.microsoft.com/office/powerpoint/2010/main" val="18841341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EB7A0-544A-D242-5B9E-DA0E7EDC7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F6E1737-2B11-6738-2D06-50E208D164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0511" y="907978"/>
            <a:ext cx="3430495" cy="595002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396D1CC-692F-186E-09EA-DA045DBC4D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8804" y="848724"/>
            <a:ext cx="3427621" cy="595002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CACCA41-FD3A-26EB-C5A1-DE9676B6529F}"/>
              </a:ext>
            </a:extLst>
          </p:cNvPr>
          <p:cNvSpPr txBox="1"/>
          <p:nvPr/>
        </p:nvSpPr>
        <p:spPr>
          <a:xfrm>
            <a:off x="329936" y="263949"/>
            <a:ext cx="116379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Kaplan Meier’s plots for </a:t>
            </a:r>
            <a:r>
              <a:rPr lang="en-US" sz="2400" b="1" dirty="0" err="1"/>
              <a:t>lncRNAs</a:t>
            </a:r>
            <a:r>
              <a:rPr lang="en-US" sz="2400" b="1" dirty="0"/>
              <a:t> for </a:t>
            </a:r>
            <a:r>
              <a:rPr lang="en-US" sz="3200" b="1" u="sng" dirty="0"/>
              <a:t>OS</a:t>
            </a:r>
            <a:r>
              <a:rPr lang="en-US" sz="2400" b="1" dirty="0"/>
              <a:t> in ICGC with Activity values [U/M comparison]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33DE7B-2AA3-E6BC-5BBE-C276B1DD94D3}"/>
              </a:ext>
            </a:extLst>
          </p:cNvPr>
          <p:cNvSpPr txBox="1"/>
          <p:nvPr/>
        </p:nvSpPr>
        <p:spPr>
          <a:xfrm>
            <a:off x="242047" y="1640542"/>
            <a:ext cx="19497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Quartile samples</a:t>
            </a:r>
            <a:r>
              <a:rPr lang="en-US" b="1" dirty="0"/>
              <a:t>:</a:t>
            </a:r>
          </a:p>
          <a:p>
            <a:r>
              <a:rPr lang="en-US" dirty="0"/>
              <a:t>30%* [high-low]</a:t>
            </a:r>
          </a:p>
          <a:p>
            <a:r>
              <a:rPr lang="en-US" dirty="0"/>
              <a:t>Activity values</a:t>
            </a:r>
            <a:endParaRPr lang="el-G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A70155-D437-AC29-5137-2CD8900A64B8}"/>
              </a:ext>
            </a:extLst>
          </p:cNvPr>
          <p:cNvSpPr txBox="1"/>
          <p:nvPr/>
        </p:nvSpPr>
        <p:spPr>
          <a:xfrm>
            <a:off x="1892293" y="1023648"/>
            <a:ext cx="11826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 [</a:t>
            </a:r>
            <a:r>
              <a:rPr lang="en-US" b="1" dirty="0" err="1"/>
              <a:t>uCLL</a:t>
            </a:r>
            <a:r>
              <a:rPr lang="en-US" b="1" dirty="0"/>
              <a:t>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5F74D1-33F7-A507-B00E-C2AEFBDA59CD}"/>
              </a:ext>
            </a:extLst>
          </p:cNvPr>
          <p:cNvSpPr txBox="1"/>
          <p:nvPr/>
        </p:nvSpPr>
        <p:spPr>
          <a:xfrm>
            <a:off x="6230334" y="1023648"/>
            <a:ext cx="10400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 [</a:t>
            </a:r>
            <a:r>
              <a:rPr lang="en-US" b="1" dirty="0" err="1"/>
              <a:t>mCLL</a:t>
            </a:r>
            <a:r>
              <a:rPr lang="en-US" b="1" dirty="0"/>
              <a:t>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27B170-6CEF-08EA-08A7-895CC24CC540}"/>
              </a:ext>
            </a:extLst>
          </p:cNvPr>
          <p:cNvSpPr txBox="1"/>
          <p:nvPr/>
        </p:nvSpPr>
        <p:spPr>
          <a:xfrm>
            <a:off x="242047" y="5626385"/>
            <a:ext cx="215328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/>
              <a:t>*30% considered due to the small number of samples in the death rate</a:t>
            </a:r>
            <a:endParaRPr lang="el-GR" sz="1400" i="1" dirty="0"/>
          </a:p>
        </p:txBody>
      </p:sp>
    </p:spTree>
    <p:extLst>
      <p:ext uri="{BB962C8B-B14F-4D97-AF65-F5344CB8AC3E}">
        <p14:creationId xmlns:p14="http://schemas.microsoft.com/office/powerpoint/2010/main" val="1075487453"/>
      </p:ext>
    </p:extLst>
  </p:cSld>
  <p:clrMapOvr>
    <a:masterClrMapping/>
  </p:clrMapOvr>
</p:sld>
</file>

<file path=ppt/theme/theme1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404</TotalTime>
  <Words>350</Words>
  <Application>Microsoft Office PowerPoint</Application>
  <PresentationFormat>Widescreen</PresentationFormat>
  <Paragraphs>64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Calibri Light</vt:lpstr>
      <vt:lpstr>Θέμα του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Vasileios Vasileiou</dc:creator>
  <cp:lastModifiedBy>Vasileios Vasileiou</cp:lastModifiedBy>
  <cp:revision>19</cp:revision>
  <dcterms:created xsi:type="dcterms:W3CDTF">2025-08-27T09:03:15Z</dcterms:created>
  <dcterms:modified xsi:type="dcterms:W3CDTF">2025-09-05T12:29:28Z</dcterms:modified>
</cp:coreProperties>
</file>