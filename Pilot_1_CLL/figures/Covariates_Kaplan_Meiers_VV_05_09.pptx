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6" r:id="rId2"/>
    <p:sldId id="256" r:id="rId3"/>
    <p:sldId id="272" r:id="rId4"/>
    <p:sldId id="268" r:id="rId5"/>
    <p:sldId id="261" r:id="rId6"/>
    <p:sldId id="257" r:id="rId7"/>
    <p:sldId id="258" r:id="rId8"/>
    <p:sldId id="273" r:id="rId9"/>
    <p:sldId id="262" r:id="rId10"/>
    <p:sldId id="259" r:id="rId11"/>
    <p:sldId id="260" r:id="rId12"/>
    <p:sldId id="263" r:id="rId13"/>
    <p:sldId id="264" r:id="rId14"/>
    <p:sldId id="267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F93AD-E018-4597-A494-1A2BC21F3CBF}" type="datetimeFigureOut">
              <a:rPr lang="el-GR" smtClean="0"/>
              <a:t>9/9/2025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3049E-A872-4C22-8B89-5470980E99B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006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E94DFD-5A1A-5CFB-C47C-E3C97584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0C361CE-8AAE-EA1A-6E9F-AF6F1C3A6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159CEB3-F242-2540-20FF-E248AF4E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65731AF-7444-7A39-97C5-1628ACC2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6D7441C-8F14-3983-1A96-9DDBA196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9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4E2773-FF63-85B0-D9E5-7CAB4F7E7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8574FD4-9808-F3B5-EEEC-A1DE3A718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A76FBD5-E2D1-9207-BD5D-A2F1950C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9ADB0D0-0A30-2AAA-624A-9BC87C0B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1F855DD-BBE6-E31A-D26E-1CAEB445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5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BF09473-E566-6C76-DAC5-289ADDAA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8BF771A-D1B6-AF92-1B06-36D13C066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066CEAA-BFE1-F588-0F54-54ED2C35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6E1744B-076D-FFFB-D5BE-9A359ACD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E9FB34A-2582-43FF-CE29-C40F9532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4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B5B833A-58C6-ACE1-3FDC-D2521417A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6DACEA6-D737-A135-090B-A821B22E3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5510937-AB71-F594-2390-74D32320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BC6383C-4234-BE6E-3275-A672D6DD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E461A30-E41D-83F2-4B01-19CB01AA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12B4EFC-8151-1357-7B89-9E69020B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5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703AB6-FB07-F0AF-BFD7-84EFB36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A063271-DB78-7AF6-2A35-C5899FEC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047AFDB-0F7C-F630-C25A-6935EC105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64D2B096-87BE-8351-BBDD-BF936210F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F88B1B4F-57F7-3974-09D1-F7E04B38E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62BD4D9-F1DA-75AC-0967-EB582F87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00E7170E-E3BE-71C5-99E7-FCA0ED38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05669A8E-A5D2-2AF4-9189-DEBE412A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DEB0DE3-3A74-D7F2-7CE9-20860B1E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C9ED88AA-A943-73DA-DCE1-7ED8FCB1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CC03501-7240-6E7C-F321-C395190E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616A9E3-7ADB-5045-6D04-F3564A8A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6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AE6F2870-3294-4949-F56E-FE54BFEC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23500C72-3DC1-1736-2301-CBE0A213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3AC0318-928D-3693-03F2-83CB1F98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7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199315-E95E-3EEC-5728-46144A23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6F992C7-A436-4585-6089-F4F4FAF9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4237796-E230-D185-A094-5E5757DC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A46349D-B170-ABAF-3A94-B0DDC67C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A98AC0CA-288C-6F8E-CA31-327F9663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3A57901-7C86-792D-B26F-100CA61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CBBEFA2-E6B2-FACF-82AB-EF702DC9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63206A85-E18C-3ECF-045B-FA4E6F62A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82F5E6A0-713F-907D-65E9-A7D7CEE92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B62EEF0-60EF-2231-1E59-6994187B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1E34C03D-0EE8-FE25-0954-4CF68F72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FD65EF95-DF2C-5053-81F6-CF8FC9C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3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646BD7B-5407-AFE1-C2D9-9B8424B6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D95EDB7A-7314-03BD-873C-CC7F8EEC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900A6D3-5A29-9CA8-1D91-4EE7B0D3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67C6203-7EAC-35FE-E2BF-B9FF70DB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F11CF00-515B-76F4-F5DB-6847605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9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D4F2A992-15EB-56A5-A598-32CDD5A5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FB61F54-1AF2-3404-FC1D-3567082FF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24B57E1-1279-D1A1-EC29-113A2558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A115892-AC38-B4F8-BE4F-22896173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E2E80F3-E022-48F5-3DF8-97F465B1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0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39C6E0FA-4A0B-6DD5-2E7D-06380D5C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41AC662D-E925-EE0B-DC1B-FC4A9AD0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5C587C1-B67A-B33F-4E61-A8FF5BCCA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18F81-2745-4D31-86FD-90D464050DE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518198-0AF9-4653-DA57-79F7AAC65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0509691-BB16-2885-EA67-536C90EBE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E452D-9B77-4F01-834B-477B78B7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2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D42FA-12BE-F062-99C0-86290456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F4F56-EC0F-E610-0446-C6B669CF6B65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Bubble Plot with Clinical Covariates</a:t>
            </a:r>
          </a:p>
        </p:txBody>
      </p:sp>
    </p:spTree>
    <p:extLst>
      <p:ext uri="{BB962C8B-B14F-4D97-AF65-F5344CB8AC3E}">
        <p14:creationId xmlns:p14="http://schemas.microsoft.com/office/powerpoint/2010/main" val="307589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F7F139-6157-545E-313B-69D54FED9B86}"/>
              </a:ext>
            </a:extLst>
          </p:cNvPr>
          <p:cNvSpPr txBox="1"/>
          <p:nvPr/>
        </p:nvSpPr>
        <p:spPr>
          <a:xfrm>
            <a:off x="329938" y="452487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Covariates between BCMO’s metadata</a:t>
            </a: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04824040-D25E-0512-782A-9713FD4FC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65" y="980141"/>
            <a:ext cx="10823470" cy="537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DEA1-8985-BF37-799A-4F86BA7B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FC45AD-620B-7C8B-4DA1-B103A41C9A3F}"/>
              </a:ext>
            </a:extLst>
          </p:cNvPr>
          <p:cNvSpPr txBox="1"/>
          <p:nvPr/>
        </p:nvSpPr>
        <p:spPr>
          <a:xfrm>
            <a:off x="329938" y="452487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Clinical Covariates between ICGC’s metadata</a:t>
            </a: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BE04C3A0-1834-F6D5-1926-521A5DCF6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09" y="1028830"/>
            <a:ext cx="10805182" cy="537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B7B0F-6C83-F0FD-26E7-64AA92F8A195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BCMO</a:t>
            </a:r>
          </a:p>
        </p:txBody>
      </p:sp>
    </p:spTree>
    <p:extLst>
      <p:ext uri="{BB962C8B-B14F-4D97-AF65-F5344CB8AC3E}">
        <p14:creationId xmlns:p14="http://schemas.microsoft.com/office/powerpoint/2010/main" val="355135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E1131-6A2B-A92D-4030-6E7E7C645C99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SURVIVAL STATUS (OS)</a:t>
            </a:r>
          </a:p>
        </p:txBody>
      </p:sp>
    </p:spTree>
    <p:extLst>
      <p:ext uri="{BB962C8B-B14F-4D97-AF65-F5344CB8AC3E}">
        <p14:creationId xmlns:p14="http://schemas.microsoft.com/office/powerpoint/2010/main" val="302834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762BF-4247-B58E-82C8-CDC2B51C73C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E641F-75C7-C2C1-C788-226F5E74F165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FFA60-C315-E2A0-0CC9-DE9BB45B6C61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27D19B-FB6C-D25D-67E9-3CCF8BC2EEA5}"/>
              </a:ext>
            </a:extLst>
          </p:cNvPr>
          <p:cNvSpPr txBox="1"/>
          <p:nvPr/>
        </p:nvSpPr>
        <p:spPr>
          <a:xfrm>
            <a:off x="197963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10F080-818D-1477-9A1F-EF8438B29164}"/>
              </a:ext>
            </a:extLst>
          </p:cNvPr>
          <p:cNvSpPr txBox="1"/>
          <p:nvPr/>
        </p:nvSpPr>
        <p:spPr>
          <a:xfrm>
            <a:off x="6096000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BD7A0D-4A36-5146-6C5D-B5B8CD04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621" y="832031"/>
            <a:ext cx="3473862" cy="6025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A8C8C5-2725-7ED5-0575-589772A65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96" y="848723"/>
            <a:ext cx="3473862" cy="60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1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264912-B56A-8389-C9A6-05419E11E6D2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832B0-349B-3F79-B116-26297B6C6811}"/>
              </a:ext>
            </a:extLst>
          </p:cNvPr>
          <p:cNvSpPr txBox="1"/>
          <p:nvPr/>
        </p:nvSpPr>
        <p:spPr>
          <a:xfrm>
            <a:off x="197963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07185-0595-074C-FF3B-9255CED3D5D2}"/>
              </a:ext>
            </a:extLst>
          </p:cNvPr>
          <p:cNvSpPr txBox="1"/>
          <p:nvPr/>
        </p:nvSpPr>
        <p:spPr>
          <a:xfrm>
            <a:off x="6096000" y="848724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D2E935-7161-ED01-9C4E-1BEF22197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69" y="848724"/>
            <a:ext cx="3393179" cy="58860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F279E0-97A0-83F9-E1DD-36D931353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32" y="971989"/>
            <a:ext cx="3393179" cy="588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6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8DD6-8528-E0C2-9301-1F126403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3B735-78E3-2C36-3774-342D2F48D972}"/>
              </a:ext>
            </a:extLst>
          </p:cNvPr>
          <p:cNvSpPr txBox="1"/>
          <p:nvPr/>
        </p:nvSpPr>
        <p:spPr>
          <a:xfrm>
            <a:off x="329936" y="263949"/>
            <a:ext cx="11557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combining 5 sign.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BCMO [Activity values]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032A3-97B3-AE9E-179D-FAF0F52F9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24" y="1761563"/>
            <a:ext cx="5527542" cy="4125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C4898-CD8A-FA31-0640-DC9A9E913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7" y="1649505"/>
            <a:ext cx="5827801" cy="43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2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57D6-DE90-BF4B-2B46-48972745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A261B-4337-81D9-75D7-96D1096C729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TFT</a:t>
            </a:r>
          </a:p>
        </p:txBody>
      </p:sp>
    </p:spTree>
    <p:extLst>
      <p:ext uri="{BB962C8B-B14F-4D97-AF65-F5344CB8AC3E}">
        <p14:creationId xmlns:p14="http://schemas.microsoft.com/office/powerpoint/2010/main" val="2201556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CAEC-A335-0807-DEEC-8F820ACE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79832-F9D4-BD82-02EF-A8D39FF3DFE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A640D-C389-8D89-875F-2172E7F36BF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31847-467A-7B45-C52B-77AE1E5124A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A7B2E8-51D2-1537-591B-EC24DCE3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23" y="848724"/>
            <a:ext cx="3464239" cy="60092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E5002A-C38D-C8B3-9263-0C0305DDD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067" y="848724"/>
            <a:ext cx="3464239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9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DDAC-E3BB-99D3-F482-234332C2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1E840C-D317-102D-CB95-5D3F0553849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TFT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091FD-2E26-5C79-3D7D-1630DBA5CCB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12ED6-CD09-9987-E141-10C7E7D724A2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8E2A70-C424-C378-7A8B-29209B083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393" y="848724"/>
            <a:ext cx="3464239" cy="6009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6FF744-E0C4-853B-8E53-220F10FBE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503" y="848724"/>
            <a:ext cx="3464964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1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73C7F-1CC3-0E24-6C6D-206847B6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1CEA3-1925-7405-2771-63FF11DED5CD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FOR TTT</a:t>
            </a:r>
          </a:p>
        </p:txBody>
      </p:sp>
    </p:spTree>
    <p:extLst>
      <p:ext uri="{BB962C8B-B14F-4D97-AF65-F5344CB8AC3E}">
        <p14:creationId xmlns:p14="http://schemas.microsoft.com/office/powerpoint/2010/main" val="2471843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F959-E6C1-C203-F8EE-B82158C8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0A7D7-4A89-362C-150A-EDBA3CAF864E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7F2AAB-D5C6-FDB8-1781-698AC516CC6B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AC11E6-0CA2-ED57-045F-382F785563F3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90314-B2F2-EFAC-CFBE-AAEE2D9EC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136" y="848724"/>
            <a:ext cx="3464239" cy="60092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EEB48-5C6A-D622-C54D-0E502C34B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8724"/>
            <a:ext cx="3464239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48A4-35F9-C6D7-6512-12396E74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23962B-277B-90BC-D9AD-E3E1B7EF230A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TTT</a:t>
            </a:r>
            <a:r>
              <a:rPr lang="en-US" sz="2400" b="1" dirty="0"/>
              <a:t> in BCMO [Activity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1ED08-5B76-ECA6-C43E-374178277D09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5D469-C234-FB0B-5EF9-368F230D2994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269920-DEBD-F973-A06B-E50D6C110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8724"/>
            <a:ext cx="3455623" cy="5994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CD4F91-6534-4B11-4374-AA21C62B7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409" y="848723"/>
            <a:ext cx="3456347" cy="599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6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912D-C862-5594-3849-C8FCDB65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56CC2-59ED-A085-04DA-692D39C5F59A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ICGC Survival Status (OS)</a:t>
            </a:r>
          </a:p>
        </p:txBody>
      </p:sp>
    </p:spTree>
    <p:extLst>
      <p:ext uri="{BB962C8B-B14F-4D97-AF65-F5344CB8AC3E}">
        <p14:creationId xmlns:p14="http://schemas.microsoft.com/office/powerpoint/2010/main" val="3144177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EE5B-51C3-819B-17E3-75F5D6E3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97EEE7-107A-2AF3-BE62-D41A1D2B3C12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ICGC [Expression values]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BB458-30E1-4A9C-A659-6EECE245E3E2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6FAAC-E377-F04E-3842-171F3FBCD6DE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492CD7-1326-EFB3-0660-3D4A95B6F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43" y="845730"/>
            <a:ext cx="3463480" cy="6012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3C1857-B5CF-B52B-C524-7DABB2485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99" y="845731"/>
            <a:ext cx="3463480" cy="601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F09D-2749-8AC4-AA3D-291BD36F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EBD8B8-E7D3-22AE-976C-1D7B3E4558AD}"/>
              </a:ext>
            </a:extLst>
          </p:cNvPr>
          <p:cNvSpPr txBox="1"/>
          <p:nvPr/>
        </p:nvSpPr>
        <p:spPr>
          <a:xfrm>
            <a:off x="329937" y="263949"/>
            <a:ext cx="926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for </a:t>
            </a:r>
            <a:r>
              <a:rPr lang="en-US" sz="2400" b="1" dirty="0" err="1"/>
              <a:t>lncRNAs</a:t>
            </a:r>
            <a:r>
              <a:rPr lang="en-US" sz="2400" b="1" dirty="0"/>
              <a:t> plots for </a:t>
            </a:r>
            <a:r>
              <a:rPr lang="en-US" sz="3200" b="1" u="sng" dirty="0"/>
              <a:t>OS</a:t>
            </a:r>
            <a:r>
              <a:rPr lang="en-US" sz="2400" b="1" dirty="0"/>
              <a:t> in ICGC [Activity values]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56F12-35FE-BB8B-CBB1-AFE8B726FD25}"/>
              </a:ext>
            </a:extLst>
          </p:cNvPr>
          <p:cNvSpPr txBox="1"/>
          <p:nvPr/>
        </p:nvSpPr>
        <p:spPr>
          <a:xfrm>
            <a:off x="197963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C864C-F774-89F3-B06E-489D53B673D8}"/>
              </a:ext>
            </a:extLst>
          </p:cNvPr>
          <p:cNvSpPr txBox="1"/>
          <p:nvPr/>
        </p:nvSpPr>
        <p:spPr>
          <a:xfrm>
            <a:off x="6096000" y="851131"/>
            <a:ext cx="82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FF7B2C-AC01-3204-F8DE-A1C95B6D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143" y="848724"/>
            <a:ext cx="3461756" cy="60092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BD029D-99D8-D81E-B8B0-D732B77BE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73" y="848724"/>
            <a:ext cx="3461756" cy="60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61AF-59FB-0BBF-A462-A611FDA5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CC9FA-8226-8272-EE5C-C03B0718CB35}"/>
              </a:ext>
            </a:extLst>
          </p:cNvPr>
          <p:cNvSpPr txBox="1"/>
          <p:nvPr/>
        </p:nvSpPr>
        <p:spPr>
          <a:xfrm>
            <a:off x="0" y="276728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BCMO</a:t>
            </a:r>
          </a:p>
          <a:p>
            <a:pPr algn="ctr"/>
            <a:r>
              <a:rPr lang="en-US" sz="4000" b="1" dirty="0"/>
              <a:t>Kaplan Meier’s by splitting into U/M CLL</a:t>
            </a:r>
          </a:p>
        </p:txBody>
      </p:sp>
    </p:spTree>
    <p:extLst>
      <p:ext uri="{BB962C8B-B14F-4D97-AF65-F5344CB8AC3E}">
        <p14:creationId xmlns:p14="http://schemas.microsoft.com/office/powerpoint/2010/main" val="2756547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9055D-6084-6CCB-A650-0C5B54D198FE}"/>
              </a:ext>
            </a:extLst>
          </p:cNvPr>
          <p:cNvSpPr txBox="1"/>
          <p:nvPr/>
        </p:nvSpPr>
        <p:spPr>
          <a:xfrm>
            <a:off x="329936" y="263949"/>
            <a:ext cx="11637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plots for </a:t>
            </a:r>
            <a:r>
              <a:rPr lang="en-US" sz="2400" b="1" dirty="0" err="1"/>
              <a:t>lncRNAs</a:t>
            </a:r>
            <a:r>
              <a:rPr lang="en-US" sz="2400" b="1" dirty="0"/>
              <a:t> for </a:t>
            </a:r>
            <a:r>
              <a:rPr lang="en-US" sz="3200" b="1" u="sng" dirty="0"/>
              <a:t>OS</a:t>
            </a:r>
            <a:r>
              <a:rPr lang="en-US" sz="2400" b="1" dirty="0"/>
              <a:t> in BCMO with Activity values [U/M comparison]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FCB0C-8759-992A-8F30-ACD8BA62D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471" y="848724"/>
            <a:ext cx="3539691" cy="6009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233DBD-69B0-D1B4-41A4-AD92FA36B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833" y="848724"/>
            <a:ext cx="3464239" cy="60092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C5874B-F8BB-9507-7130-8CA80D77D3B4}"/>
              </a:ext>
            </a:extLst>
          </p:cNvPr>
          <p:cNvSpPr txBox="1"/>
          <p:nvPr/>
        </p:nvSpPr>
        <p:spPr>
          <a:xfrm>
            <a:off x="242047" y="1640542"/>
            <a:ext cx="1949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Quartile samples</a:t>
            </a:r>
            <a:r>
              <a:rPr lang="en-US" b="1" dirty="0"/>
              <a:t>:</a:t>
            </a:r>
          </a:p>
          <a:p>
            <a:r>
              <a:rPr lang="en-US" dirty="0"/>
              <a:t>25% [high-low]</a:t>
            </a:r>
          </a:p>
          <a:p>
            <a:r>
              <a:rPr lang="en-US" dirty="0"/>
              <a:t>Activity values</a:t>
            </a:r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27A1F-2690-3372-D053-FEC7E3FA1841}"/>
              </a:ext>
            </a:extLst>
          </p:cNvPr>
          <p:cNvSpPr txBox="1"/>
          <p:nvPr/>
        </p:nvSpPr>
        <p:spPr>
          <a:xfrm>
            <a:off x="1892293" y="1023648"/>
            <a:ext cx="118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[</a:t>
            </a:r>
            <a:r>
              <a:rPr lang="en-US" b="1" dirty="0" err="1"/>
              <a:t>uCLL</a:t>
            </a:r>
            <a:r>
              <a:rPr lang="en-US" b="1" dirty="0"/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4B024-95A4-9D8E-AD9B-C15499E71A59}"/>
              </a:ext>
            </a:extLst>
          </p:cNvPr>
          <p:cNvSpPr txBox="1"/>
          <p:nvPr/>
        </p:nvSpPr>
        <p:spPr>
          <a:xfrm>
            <a:off x="6230334" y="1023648"/>
            <a:ext cx="104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[</a:t>
            </a:r>
            <a:r>
              <a:rPr lang="en-US" b="1" dirty="0" err="1"/>
              <a:t>mCLL</a:t>
            </a:r>
            <a:r>
              <a:rPr lang="en-US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0320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2E84-E824-AC17-81E7-E6433C15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D0D3F-0FC2-DD28-F5AB-96ECEE060EA2}"/>
              </a:ext>
            </a:extLst>
          </p:cNvPr>
          <p:cNvSpPr txBox="1"/>
          <p:nvPr/>
        </p:nvSpPr>
        <p:spPr>
          <a:xfrm>
            <a:off x="329936" y="263949"/>
            <a:ext cx="11637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plots for </a:t>
            </a:r>
            <a:r>
              <a:rPr lang="en-US" sz="2400" b="1" dirty="0" err="1"/>
              <a:t>lncRNAs</a:t>
            </a:r>
            <a:r>
              <a:rPr lang="en-US" sz="2400" b="1" dirty="0"/>
              <a:t> for </a:t>
            </a:r>
            <a:r>
              <a:rPr lang="en-US" sz="3200" b="1" u="sng" dirty="0"/>
              <a:t>TFT</a:t>
            </a:r>
            <a:r>
              <a:rPr lang="en-US" sz="2400" b="1" dirty="0"/>
              <a:t> in BCMO with Activity values [U/M comparison]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78381-06EB-2B08-FD66-2C64EA74A8AC}"/>
              </a:ext>
            </a:extLst>
          </p:cNvPr>
          <p:cNvSpPr txBox="1"/>
          <p:nvPr/>
        </p:nvSpPr>
        <p:spPr>
          <a:xfrm>
            <a:off x="242047" y="1640542"/>
            <a:ext cx="1949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Quartile samples</a:t>
            </a:r>
            <a:r>
              <a:rPr lang="en-US" b="1" dirty="0"/>
              <a:t>:</a:t>
            </a:r>
          </a:p>
          <a:p>
            <a:r>
              <a:rPr lang="en-US" dirty="0"/>
              <a:t>25% [high-low]</a:t>
            </a:r>
          </a:p>
          <a:p>
            <a:r>
              <a:rPr lang="en-US" dirty="0"/>
              <a:t>Activity values</a:t>
            </a:r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F7C37-E798-8ABB-602D-B10FE4C3D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698" y="848724"/>
            <a:ext cx="3539691" cy="600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033D87-7DB6-DF76-45A5-AC04A910F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243" y="848724"/>
            <a:ext cx="3464964" cy="60092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F5033C-B76D-F050-0DC9-AAA060B49E3D}"/>
              </a:ext>
            </a:extLst>
          </p:cNvPr>
          <p:cNvSpPr txBox="1"/>
          <p:nvPr/>
        </p:nvSpPr>
        <p:spPr>
          <a:xfrm>
            <a:off x="2134341" y="1023648"/>
            <a:ext cx="118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[</a:t>
            </a:r>
            <a:r>
              <a:rPr lang="en-US" b="1" dirty="0" err="1"/>
              <a:t>uCLL</a:t>
            </a:r>
            <a:r>
              <a:rPr lang="en-US" b="1" dirty="0"/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C5949-AF99-8CD6-21E9-6D094F8E42D9}"/>
              </a:ext>
            </a:extLst>
          </p:cNvPr>
          <p:cNvSpPr txBox="1"/>
          <p:nvPr/>
        </p:nvSpPr>
        <p:spPr>
          <a:xfrm>
            <a:off x="6472382" y="1023648"/>
            <a:ext cx="104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[</a:t>
            </a:r>
            <a:r>
              <a:rPr lang="en-US" b="1" dirty="0" err="1"/>
              <a:t>mCLL</a:t>
            </a:r>
            <a:r>
              <a:rPr lang="en-US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06982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6C2B-99E2-FB1F-B89D-69F1EF43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3AF8A29-1B16-9DCC-62A9-A78073090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729" y="848724"/>
            <a:ext cx="3507952" cy="59553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C509D1-3AF1-3844-A5F8-2B9AB40C3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51" y="848724"/>
            <a:ext cx="3433896" cy="59553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7F0D20-4238-FACC-6EF0-9C25337E3420}"/>
              </a:ext>
            </a:extLst>
          </p:cNvPr>
          <p:cNvSpPr txBox="1"/>
          <p:nvPr/>
        </p:nvSpPr>
        <p:spPr>
          <a:xfrm>
            <a:off x="329936" y="263949"/>
            <a:ext cx="11637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plots for </a:t>
            </a:r>
            <a:r>
              <a:rPr lang="en-US" sz="2400" b="1" dirty="0" err="1"/>
              <a:t>lncRNAs</a:t>
            </a:r>
            <a:r>
              <a:rPr lang="en-US" sz="2400" b="1" dirty="0"/>
              <a:t> </a:t>
            </a:r>
            <a:r>
              <a:rPr lang="en-US" sz="2400" b="1"/>
              <a:t>for </a:t>
            </a:r>
            <a:r>
              <a:rPr lang="en-US" sz="3200" b="1" u="sng"/>
              <a:t>TTT</a:t>
            </a:r>
            <a:r>
              <a:rPr lang="en-US" sz="2400" b="1"/>
              <a:t> </a:t>
            </a:r>
            <a:r>
              <a:rPr lang="en-US" sz="2400" b="1" dirty="0"/>
              <a:t>in BCMO with Activity values [U/M comparison]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7BDBC-F733-137E-BDA4-BEBA03845EF1}"/>
              </a:ext>
            </a:extLst>
          </p:cNvPr>
          <p:cNvSpPr txBox="1"/>
          <p:nvPr/>
        </p:nvSpPr>
        <p:spPr>
          <a:xfrm>
            <a:off x="242047" y="1640542"/>
            <a:ext cx="1949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Quartile samples</a:t>
            </a:r>
            <a:r>
              <a:rPr lang="en-US" b="1" dirty="0"/>
              <a:t>:</a:t>
            </a:r>
          </a:p>
          <a:p>
            <a:r>
              <a:rPr lang="en-US" dirty="0"/>
              <a:t>25% [high-low]</a:t>
            </a:r>
          </a:p>
          <a:p>
            <a:r>
              <a:rPr lang="en-US" dirty="0"/>
              <a:t>Activity values</a:t>
            </a:r>
            <a:endParaRPr lang="el-G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361A6-D27F-5A4C-D263-97376F5F1448}"/>
              </a:ext>
            </a:extLst>
          </p:cNvPr>
          <p:cNvSpPr txBox="1"/>
          <p:nvPr/>
        </p:nvSpPr>
        <p:spPr>
          <a:xfrm>
            <a:off x="2134341" y="1023648"/>
            <a:ext cx="118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[</a:t>
            </a:r>
            <a:r>
              <a:rPr lang="en-US" b="1" dirty="0" err="1"/>
              <a:t>uCLL</a:t>
            </a:r>
            <a:r>
              <a:rPr lang="en-US" b="1" dirty="0"/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12679-B91B-0B18-57DF-8F5F66933219}"/>
              </a:ext>
            </a:extLst>
          </p:cNvPr>
          <p:cNvSpPr txBox="1"/>
          <p:nvPr/>
        </p:nvSpPr>
        <p:spPr>
          <a:xfrm>
            <a:off x="6472382" y="1023648"/>
            <a:ext cx="104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[</a:t>
            </a:r>
            <a:r>
              <a:rPr lang="en-US" b="1" dirty="0" err="1"/>
              <a:t>mCLL</a:t>
            </a:r>
            <a:r>
              <a:rPr lang="en-US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15304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4404-79E6-8088-4277-F6886FB8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F2927-820B-5943-BA77-666EC3AF1552}"/>
              </a:ext>
            </a:extLst>
          </p:cNvPr>
          <p:cNvSpPr txBox="1"/>
          <p:nvPr/>
        </p:nvSpPr>
        <p:spPr>
          <a:xfrm>
            <a:off x="0" y="2767281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ICGC</a:t>
            </a:r>
          </a:p>
          <a:p>
            <a:pPr algn="ctr"/>
            <a:r>
              <a:rPr lang="en-US" sz="4000" b="1" dirty="0"/>
              <a:t>Kaplan Meier’s by splitting into U/M CLL</a:t>
            </a:r>
          </a:p>
        </p:txBody>
      </p:sp>
    </p:spTree>
    <p:extLst>
      <p:ext uri="{BB962C8B-B14F-4D97-AF65-F5344CB8AC3E}">
        <p14:creationId xmlns:p14="http://schemas.microsoft.com/office/powerpoint/2010/main" val="1884134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B7A0-544A-D242-5B9E-DA0E7EDC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6E1737-2B11-6738-2D06-50E208D16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11" y="907978"/>
            <a:ext cx="3430495" cy="59500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96D1CC-692F-186E-09EA-DA045DBC4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804" y="848724"/>
            <a:ext cx="3427621" cy="59500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ACCA41-FD3A-26EB-C5A1-DE9676B6529F}"/>
              </a:ext>
            </a:extLst>
          </p:cNvPr>
          <p:cNvSpPr txBox="1"/>
          <p:nvPr/>
        </p:nvSpPr>
        <p:spPr>
          <a:xfrm>
            <a:off x="329936" y="263949"/>
            <a:ext cx="11637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Kaplan Meier’s plots for </a:t>
            </a:r>
            <a:r>
              <a:rPr lang="en-US" sz="2400" b="1" dirty="0" err="1"/>
              <a:t>lncRNAs</a:t>
            </a:r>
            <a:r>
              <a:rPr lang="en-US" sz="2400" b="1" dirty="0"/>
              <a:t> for </a:t>
            </a:r>
            <a:r>
              <a:rPr lang="en-US" sz="3200" b="1" u="sng" dirty="0"/>
              <a:t>OS</a:t>
            </a:r>
            <a:r>
              <a:rPr lang="en-US" sz="2400" b="1" dirty="0"/>
              <a:t> in ICGC with Activity values [U/M comparison]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3DE7B-2AA3-E6BC-5BBE-C276B1DD94D3}"/>
              </a:ext>
            </a:extLst>
          </p:cNvPr>
          <p:cNvSpPr txBox="1"/>
          <p:nvPr/>
        </p:nvSpPr>
        <p:spPr>
          <a:xfrm>
            <a:off x="242047" y="1640542"/>
            <a:ext cx="1949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Quartile samples</a:t>
            </a:r>
            <a:r>
              <a:rPr lang="en-US" b="1" dirty="0"/>
              <a:t>:</a:t>
            </a:r>
          </a:p>
          <a:p>
            <a:r>
              <a:rPr lang="en-US" dirty="0"/>
              <a:t>30%* [high-low]</a:t>
            </a:r>
          </a:p>
          <a:p>
            <a:r>
              <a:rPr lang="en-US" dirty="0"/>
              <a:t>Activity values</a:t>
            </a:r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70155-D437-AC29-5137-2CD8900A64B8}"/>
              </a:ext>
            </a:extLst>
          </p:cNvPr>
          <p:cNvSpPr txBox="1"/>
          <p:nvPr/>
        </p:nvSpPr>
        <p:spPr>
          <a:xfrm>
            <a:off x="1892293" y="1023648"/>
            <a:ext cx="118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[</a:t>
            </a:r>
            <a:r>
              <a:rPr lang="en-US" b="1" dirty="0" err="1"/>
              <a:t>uCLL</a:t>
            </a:r>
            <a:r>
              <a:rPr lang="en-US" b="1" dirty="0"/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F74D1-33F7-A507-B00E-C2AEFBDA59CD}"/>
              </a:ext>
            </a:extLst>
          </p:cNvPr>
          <p:cNvSpPr txBox="1"/>
          <p:nvPr/>
        </p:nvSpPr>
        <p:spPr>
          <a:xfrm>
            <a:off x="6230334" y="1023648"/>
            <a:ext cx="104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[</a:t>
            </a:r>
            <a:r>
              <a:rPr lang="en-US" b="1" dirty="0" err="1"/>
              <a:t>mCLL</a:t>
            </a:r>
            <a:r>
              <a:rPr lang="en-US" b="1" dirty="0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7B170-6CEF-08EA-08A7-895CC24CC540}"/>
              </a:ext>
            </a:extLst>
          </p:cNvPr>
          <p:cNvSpPr txBox="1"/>
          <p:nvPr/>
        </p:nvSpPr>
        <p:spPr>
          <a:xfrm>
            <a:off x="242047" y="5626385"/>
            <a:ext cx="2153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*30% considered due to the small number of samples in the death rate</a:t>
            </a:r>
            <a:endParaRPr lang="el-GR" sz="1400" i="1" dirty="0"/>
          </a:p>
        </p:txBody>
      </p:sp>
    </p:spTree>
    <p:extLst>
      <p:ext uri="{BB962C8B-B14F-4D97-AF65-F5344CB8AC3E}">
        <p14:creationId xmlns:p14="http://schemas.microsoft.com/office/powerpoint/2010/main" val="1075487453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350</Words>
  <Application>Microsoft Office PowerPoint</Application>
  <PresentationFormat>Widescreen</PresentationFormat>
  <Paragraphs>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Θέμα του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Vasileiou</dc:creator>
  <cp:lastModifiedBy>Vasileios Vasileiou</cp:lastModifiedBy>
  <cp:revision>19</cp:revision>
  <dcterms:created xsi:type="dcterms:W3CDTF">2025-08-27T09:03:15Z</dcterms:created>
  <dcterms:modified xsi:type="dcterms:W3CDTF">2025-09-09T12:27:07Z</dcterms:modified>
</cp:coreProperties>
</file>